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2037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50312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1739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0909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3145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019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1695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5697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2295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6050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484730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0927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878594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2994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1058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7222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1897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4B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7AA3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4484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400" b="1">
                <a:solidFill>
                  <a:srgbClr val="FFFFFF"/>
                </a:solidFill>
                <a:latin typeface="Segoe UI"/>
              </a:defRPr>
            </a:pPr>
            <a:r>
              <a:t>SCAPE</a:t>
            </a:r>
          </a:p>
          <a:p>
            <a:pPr algn="l">
              <a:spcBef>
                <a:spcPts val="1200"/>
              </a:spcBef>
              <a:defRPr sz="2400">
                <a:solidFill>
                  <a:srgbClr val="DAE6DE"/>
                </a:solidFill>
                <a:latin typeface="Segoe UI"/>
              </a:defRPr>
            </a:pPr>
            <a:r>
              <a:t>Rediscover Nature in Sydney's Bustling Metropolis</a:t>
            </a:r>
          </a:p>
          <a:p>
            <a:pPr algn="l">
              <a:spcBef>
                <a:spcPts val="3600"/>
              </a:spcBef>
              <a:defRPr sz="1600">
                <a:solidFill>
                  <a:srgbClr val="7AA389"/>
                </a:solidFill>
                <a:latin typeface="Segoe UI"/>
              </a:defRPr>
            </a:pPr>
            <a:r>
              <a:t>An Immersive, Experience-Driven Mapping and Blogging 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2C4B3B"/>
                </a:solidFill>
                <a:latin typeface="Segoe UI"/>
              </a:defRPr>
            </a:pPr>
            <a:r>
              <a:t>The Urban Exploration Dilemma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463040"/>
            <a:ext cx="5120640" cy="4389120"/>
          </a:xfrm>
          <a:prstGeom prst="roundRect">
            <a:avLst/>
          </a:prstGeom>
          <a:solidFill>
            <a:srgbClr val="DAE6DE"/>
          </a:solidFill>
          <a:ln w="12700">
            <a:solidFill>
              <a:srgbClr val="7AA3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365760" rIns="365760" rtlCol="0" anchor="ctr"/>
          <a:lstStyle/>
          <a:p>
            <a:pPr algn="ctr">
              <a:spcAft>
                <a:spcPts val="1400"/>
              </a:spcAft>
              <a:defRPr sz="1800" b="1">
                <a:solidFill>
                  <a:srgbClr val="2C4B3B"/>
                </a:solidFill>
                <a:latin typeface="Segoe UI"/>
              </a:defRPr>
            </a:pPr>
            <a:r>
              <a:t>THE PROBLEM</a:t>
            </a:r>
          </a:p>
          <a:p>
            <a:pPr>
              <a:spcAft>
                <a:spcPts val="1000"/>
              </a:spcAft>
              <a:defRPr sz="1300" b="1">
                <a:solidFill>
                  <a:srgbClr val="212529"/>
                </a:solidFill>
                <a:latin typeface="Segoe UI"/>
              </a:defRPr>
            </a:pPr>
            <a:r>
              <a:t>•  Scattered Information: </a:t>
            </a:r>
            <a:r>
              <a:rPr b="0">
                <a:solidFill>
                  <a:srgbClr val="212529"/>
                </a:solidFill>
              </a:rPr>
              <a:t>Outdoor info is fragmented across travel blogs, social media, and navigation apps.</a:t>
            </a:r>
          </a:p>
          <a:p>
            <a:pPr>
              <a:spcAft>
                <a:spcPts val="1000"/>
              </a:spcAft>
              <a:defRPr sz="1300" b="1">
                <a:solidFill>
                  <a:srgbClr val="212529"/>
                </a:solidFill>
                <a:latin typeface="Segoe UI"/>
              </a:defRPr>
            </a:pPr>
            <a:r>
              <a:t>•  Navigation vs. Experience: </a:t>
            </a:r>
            <a:r>
              <a:rPr b="0">
                <a:solidFill>
                  <a:srgbClr val="212529"/>
                </a:solidFill>
              </a:rPr>
              <a:t>Traditional maps are designed for A-to-B driving navigation, not outdoor discovering.</a:t>
            </a:r>
          </a:p>
          <a:p>
            <a:pPr>
              <a:spcAft>
                <a:spcPts val="1000"/>
              </a:spcAft>
              <a:defRPr sz="1300" b="1">
                <a:solidFill>
                  <a:srgbClr val="212529"/>
                </a:solidFill>
                <a:latin typeface="Segoe UI"/>
              </a:defRPr>
            </a:pPr>
            <a:r>
              <a:t>•  No Fitness or Amenity Context: </a:t>
            </a:r>
            <a:r>
              <a:rPr b="0">
                <a:solidFill>
                  <a:srgbClr val="212529"/>
                </a:solidFill>
              </a:rPr>
              <a:t>Hard to find trails aligned to fitness levels, time constraints, or picnic needs.</a:t>
            </a:r>
          </a:p>
          <a:p>
            <a:pPr>
              <a:spcAft>
                <a:spcPts val="1000"/>
              </a:spcAft>
              <a:defRPr sz="1300" b="1">
                <a:solidFill>
                  <a:srgbClr val="212529"/>
                </a:solidFill>
                <a:latin typeface="Segoe UI"/>
              </a:defRPr>
            </a:pPr>
            <a:r>
              <a:t>•  Disconnect from Nature: </a:t>
            </a:r>
            <a:r>
              <a:rPr b="0">
                <a:solidFill>
                  <a:srgbClr val="212529"/>
                </a:solidFill>
              </a:rPr>
              <a:t>Students, tourists, and busy residents struggle to easily locate peaceful, restorative spaces nearby.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1463040"/>
            <a:ext cx="5120640" cy="4389120"/>
          </a:xfrm>
          <a:prstGeom prst="roundRect">
            <a:avLst/>
          </a:prstGeom>
          <a:solidFill>
            <a:srgbClr val="DAE6DE"/>
          </a:solidFill>
          <a:ln w="12700">
            <a:solidFill>
              <a:srgbClr val="7AA3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365760" rIns="365760" rtlCol="0" anchor="ctr"/>
          <a:lstStyle/>
          <a:p>
            <a:pPr algn="ctr">
              <a:spcAft>
                <a:spcPts val="1400"/>
              </a:spcAft>
              <a:defRPr sz="1800" b="1">
                <a:solidFill>
                  <a:srgbClr val="2C4B3B"/>
                </a:solidFill>
                <a:latin typeface="Segoe UI"/>
              </a:defRPr>
            </a:pPr>
            <a:r>
              <a:t>THE IMPACT &amp; AUDIENCE</a:t>
            </a:r>
          </a:p>
          <a:p>
            <a:pPr>
              <a:spcAft>
                <a:spcPts val="1000"/>
              </a:spcAft>
              <a:defRPr sz="1300" b="1">
                <a:solidFill>
                  <a:srgbClr val="212529"/>
                </a:solidFill>
                <a:latin typeface="Segoe UI"/>
              </a:defRPr>
            </a:pPr>
            <a:r>
              <a:t>•  Ineffective Planning: </a:t>
            </a:r>
            <a:r>
              <a:rPr b="0">
                <a:solidFill>
                  <a:srgbClr val="212529"/>
                </a:solidFill>
              </a:rPr>
              <a:t>Users spend excessive hours planning hikes or outings, often ending up in crowded or unsuitable spots.</a:t>
            </a:r>
          </a:p>
          <a:p>
            <a:pPr>
              <a:spcAft>
                <a:spcPts val="1000"/>
              </a:spcAft>
              <a:defRPr sz="1300" b="1">
                <a:solidFill>
                  <a:srgbClr val="212529"/>
                </a:solidFill>
                <a:latin typeface="Segoe UI"/>
              </a:defRPr>
            </a:pPr>
            <a:r>
              <a:t>•  Missed Local Attractions: </a:t>
            </a:r>
            <a:r>
              <a:rPr b="0">
                <a:solidFill>
                  <a:srgbClr val="212529"/>
                </a:solidFill>
              </a:rPr>
              <a:t>Stunning trails (e.g., Bondi to Coogee, Royal National Park) are left unexplored due to lack of exposure.</a:t>
            </a:r>
          </a:p>
          <a:p>
            <a:pPr>
              <a:spcAft>
                <a:spcPts val="1000"/>
              </a:spcAft>
              <a:defRPr sz="1300" b="1">
                <a:solidFill>
                  <a:srgbClr val="212529"/>
                </a:solidFill>
                <a:latin typeface="Segoe UI"/>
              </a:defRPr>
            </a:pPr>
            <a:r>
              <a:t>•  Target: </a:t>
            </a:r>
            <a:r>
              <a:rPr b="0">
                <a:solidFill>
                  <a:srgbClr val="212529"/>
                </a:solidFill>
              </a:rPr>
              <a:t>Students &amp; Youth</a:t>
            </a:r>
          </a:p>
          <a:p>
            <a:pPr>
              <a:spcAft>
                <a:spcPts val="1000"/>
              </a:spcAft>
              <a:defRPr sz="1300" b="1">
                <a:solidFill>
                  <a:srgbClr val="212529"/>
                </a:solidFill>
                <a:latin typeface="Segoe UI"/>
              </a:defRPr>
            </a:pPr>
            <a:r>
              <a:t>•  Target: </a:t>
            </a:r>
            <a:r>
              <a:rPr b="0">
                <a:solidFill>
                  <a:srgbClr val="212529"/>
                </a:solidFill>
              </a:rPr>
              <a:t>Tourists &amp; New Residents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2C4B3B"/>
                </a:solidFill>
                <a:latin typeface="Segoe UI"/>
              </a:defRPr>
            </a:pPr>
            <a:r>
              <a:t>Introducing SCAPE: The Natural Escape App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463040"/>
            <a:ext cx="10789920" cy="1097280"/>
          </a:xfrm>
          <a:prstGeom prst="roundRect">
            <a:avLst/>
          </a:prstGeom>
          <a:solidFill>
            <a:srgbClr val="2C4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0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OUR VISION: To bridge the gap between busy city life and Sydney's breathtaking natural landscapes through a visually calming, experience-focused web application.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834640"/>
            <a:ext cx="3474720" cy="3017520"/>
          </a:xfrm>
          <a:prstGeom prst="roundRect">
            <a:avLst/>
          </a:prstGeom>
          <a:solidFill>
            <a:srgbClr val="DAE6DE"/>
          </a:solidFill>
          <a:ln w="12700">
            <a:solidFill>
              <a:srgbClr val="7AA3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rtlCol="0" anchor="ctr"/>
          <a:lstStyle/>
          <a:p>
            <a:pPr algn="ctr">
              <a:spcAft>
                <a:spcPts val="600"/>
              </a:spcAft>
              <a:defRPr sz="1100" b="1">
                <a:solidFill>
                  <a:srgbClr val="7AA389"/>
                </a:solidFill>
                <a:latin typeface="Segoe UI"/>
              </a:defRPr>
            </a:pPr>
            <a:r>
              <a:t>AESTHETICS</a:t>
            </a:r>
          </a:p>
          <a:p>
            <a:pPr>
              <a:spcAft>
                <a:spcPts val="1200"/>
              </a:spcAft>
              <a:defRPr sz="1800" b="1">
                <a:solidFill>
                  <a:srgbClr val="2C4B3B"/>
                </a:solidFill>
                <a:latin typeface="Segoe UI"/>
              </a:defRPr>
            </a:pPr>
            <a:r>
              <a:t>Calming Nature Vibe</a:t>
            </a:r>
          </a:p>
          <a:p>
            <a:pPr>
              <a:lnSpc>
                <a:spcPct val="115000"/>
              </a:lnSpc>
              <a:defRPr sz="1200">
                <a:solidFill>
                  <a:srgbClr val="212529"/>
                </a:solidFill>
                <a:latin typeface="Segoe UI"/>
              </a:defRPr>
            </a:pPr>
            <a:r>
              <a:t>Designed with a serene color palette of light greens, blues, and pure white. Features high-quality blurred nature backgrounds to keep users relaxed while browsing.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2834640"/>
            <a:ext cx="3474720" cy="3017520"/>
          </a:xfrm>
          <a:prstGeom prst="roundRect">
            <a:avLst/>
          </a:prstGeom>
          <a:solidFill>
            <a:srgbClr val="DAE6DE"/>
          </a:solidFill>
          <a:ln w="12700">
            <a:solidFill>
              <a:srgbClr val="7AA3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rtlCol="0" anchor="ctr"/>
          <a:lstStyle/>
          <a:p>
            <a:pPr algn="ctr">
              <a:spcAft>
                <a:spcPts val="600"/>
              </a:spcAft>
              <a:defRPr sz="1100" b="1">
                <a:solidFill>
                  <a:srgbClr val="7AA389"/>
                </a:solidFill>
                <a:latin typeface="Segoe UI"/>
              </a:defRPr>
            </a:pPr>
            <a:r>
              <a:t>EXPLORATION</a:t>
            </a:r>
          </a:p>
          <a:p>
            <a:pPr>
              <a:spcAft>
                <a:spcPts val="1200"/>
              </a:spcAft>
              <a:defRPr sz="1800" b="1">
                <a:solidFill>
                  <a:srgbClr val="2C4B3B"/>
                </a:solidFill>
                <a:latin typeface="Segoe UI"/>
              </a:defRPr>
            </a:pPr>
            <a:r>
              <a:t>Interactive Scenic Maps</a:t>
            </a:r>
          </a:p>
          <a:p>
            <a:pPr>
              <a:lnSpc>
                <a:spcPct val="115000"/>
              </a:lnSpc>
              <a:defRPr sz="1200">
                <a:solidFill>
                  <a:srgbClr val="212529"/>
                </a:solidFill>
                <a:latin typeface="Segoe UI"/>
              </a:defRPr>
            </a:pPr>
            <a:r>
              <a:t>Integrated Maplibre GL mapping focused on Sydney and its outskirts. Interactive sidebar listings sync directly with custom map pins for an experience-first exploration.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79" y="2834640"/>
            <a:ext cx="3474720" cy="3017520"/>
          </a:xfrm>
          <a:prstGeom prst="roundRect">
            <a:avLst/>
          </a:prstGeom>
          <a:solidFill>
            <a:srgbClr val="DAE6DE"/>
          </a:solidFill>
          <a:ln w="12700">
            <a:solidFill>
              <a:srgbClr val="7AA3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rtlCol="0" anchor="ctr"/>
          <a:lstStyle/>
          <a:p>
            <a:pPr algn="ctr">
              <a:spcAft>
                <a:spcPts val="600"/>
              </a:spcAft>
              <a:defRPr sz="1100" b="1">
                <a:solidFill>
                  <a:srgbClr val="7AA389"/>
                </a:solidFill>
                <a:latin typeface="Segoe UI"/>
              </a:defRPr>
            </a:pPr>
            <a:r>
              <a:t>COMMUNITY</a:t>
            </a:r>
          </a:p>
          <a:p>
            <a:pPr>
              <a:spcAft>
                <a:spcPts val="1200"/>
              </a:spcAft>
              <a:defRPr sz="1800" b="1">
                <a:solidFill>
                  <a:srgbClr val="2C4B3B"/>
                </a:solidFill>
                <a:latin typeface="Segoe UI"/>
              </a:defRPr>
            </a:pPr>
            <a:r>
              <a:t>Community Stories</a:t>
            </a:r>
          </a:p>
          <a:p>
            <a:pPr>
              <a:lnSpc>
                <a:spcPct val="115000"/>
              </a:lnSpc>
              <a:defRPr sz="1200">
                <a:solidFill>
                  <a:srgbClr val="212529"/>
                </a:solidFill>
                <a:latin typeface="Segoe UI"/>
              </a:defRPr>
            </a:pPr>
            <a:r>
              <a:t>Built-in Nature Blogs &amp; Stories platform. Users can write, upload, and read personal experiences and reviews to foster a community of outdoor enthusiasts.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2C4B3B"/>
                </a:solidFill>
                <a:latin typeface="Segoe UI"/>
              </a:defRPr>
            </a:pPr>
            <a:r>
              <a:t>1. Immersive Home &amp; Search Screen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484632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Aft>
                <a:spcPts val="1600"/>
              </a:spcAft>
              <a:defRPr sz="1400" b="1">
                <a:solidFill>
                  <a:srgbClr val="2C4B3B"/>
                </a:solidFill>
                <a:latin typeface="Segoe UI"/>
              </a:defRPr>
            </a:pPr>
            <a:r>
              <a:t>Visual First Impression: </a:t>
            </a:r>
            <a:r>
              <a:rPr b="0">
                <a:solidFill>
                  <a:srgbClr val="212529"/>
                </a:solidFill>
              </a:rPr>
              <a:t>Stunning blurred forest background creates a premium, grounding atmosphere right from the start.</a:t>
            </a:r>
          </a:p>
          <a:p>
            <a:pPr>
              <a:lnSpc>
                <a:spcPct val="120000"/>
              </a:lnSpc>
              <a:spcAft>
                <a:spcPts val="1600"/>
              </a:spcAft>
              <a:defRPr sz="1400" b="1">
                <a:solidFill>
                  <a:srgbClr val="2C4B3B"/>
                </a:solidFill>
                <a:latin typeface="Segoe UI"/>
              </a:defRPr>
            </a:pPr>
            <a:r>
              <a:t>Glassmorphism Header: </a:t>
            </a:r>
            <a:r>
              <a:rPr b="0">
                <a:solidFill>
                  <a:srgbClr val="212529"/>
                </a:solidFill>
              </a:rPr>
              <a:t>Sleek navigation bar with modern blur effects containing quick links to Explore, Favorites, Blogs, About, and Socials.</a:t>
            </a:r>
          </a:p>
          <a:p>
            <a:pPr>
              <a:lnSpc>
                <a:spcPct val="120000"/>
              </a:lnSpc>
              <a:spcAft>
                <a:spcPts val="1600"/>
              </a:spcAft>
              <a:defRPr sz="1400" b="1">
                <a:solidFill>
                  <a:srgbClr val="2C4B3B"/>
                </a:solidFill>
                <a:latin typeface="Segoe UI"/>
              </a:defRPr>
            </a:pPr>
            <a:r>
              <a:t>Prominent Search Bar: </a:t>
            </a:r>
            <a:r>
              <a:rPr b="0">
                <a:solidFill>
                  <a:srgbClr val="212529"/>
                </a:solidFill>
              </a:rPr>
              <a:t>Clean, rounded input centered in a translucent hero container allows users to quickly search spots by name or keyword.</a:t>
            </a:r>
          </a:p>
          <a:p>
            <a:pPr>
              <a:lnSpc>
                <a:spcPct val="120000"/>
              </a:lnSpc>
              <a:spcAft>
                <a:spcPts val="1600"/>
              </a:spcAft>
              <a:defRPr sz="1400" b="1">
                <a:solidFill>
                  <a:srgbClr val="2C4B3B"/>
                </a:solidFill>
                <a:latin typeface="Segoe UI"/>
              </a:defRPr>
            </a:pPr>
            <a:r>
              <a:t>Call-to-Action: </a:t>
            </a:r>
            <a:r>
              <a:rPr b="0">
                <a:solidFill>
                  <a:srgbClr val="212529"/>
                </a:solidFill>
              </a:rPr>
              <a:t>A distinct green 'Start Exploring' button smoothly guides the user deeper into the interactive mapping interface.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897880" y="1325880"/>
            <a:ext cx="5669280" cy="4480560"/>
          </a:xfrm>
          <a:prstGeom prst="rect">
            <a:avLst/>
          </a:prstGeom>
          <a:solidFill>
            <a:srgbClr val="DAE6DE"/>
          </a:solidFill>
          <a:ln w="19050">
            <a:solidFill>
              <a:srgbClr val="7AA3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1_landing_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371600"/>
            <a:ext cx="557784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2C4B3B"/>
                </a:solidFill>
                <a:latin typeface="Segoe UI"/>
              </a:defRPr>
            </a:pPr>
            <a:r>
              <a:t>2. Interactive Scenic Terrain Explorer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484632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Aft>
                <a:spcPts val="1600"/>
              </a:spcAft>
              <a:defRPr sz="1400" b="1">
                <a:solidFill>
                  <a:srgbClr val="2C4B3B"/>
                </a:solidFill>
                <a:latin typeface="Segoe UI"/>
              </a:defRPr>
            </a:pPr>
            <a:r>
              <a:t>Split-Screen Layout: </a:t>
            </a:r>
            <a:r>
              <a:rPr b="0">
                <a:solidFill>
                  <a:srgbClr val="212529"/>
                </a:solidFill>
              </a:rPr>
              <a:t>A beautifully balanced dual-pane layout placing structured spot cards on the left and an expansive interactive map on the right.</a:t>
            </a:r>
          </a:p>
          <a:p>
            <a:pPr>
              <a:lnSpc>
                <a:spcPct val="120000"/>
              </a:lnSpc>
              <a:spcAft>
                <a:spcPts val="1600"/>
              </a:spcAft>
              <a:defRPr sz="1400" b="1">
                <a:solidFill>
                  <a:srgbClr val="2C4B3B"/>
                </a:solidFill>
                <a:latin typeface="Segoe UI"/>
              </a:defRPr>
            </a:pPr>
            <a:r>
              <a:t>Maplibre Map Integration: </a:t>
            </a:r>
            <a:r>
              <a:rPr b="0">
                <a:solidFill>
                  <a:srgbClr val="212529"/>
                </a:solidFill>
              </a:rPr>
              <a:t>A custom high-performance map centered on Sydney, highlighting scenic trails, beaches, and parks via precise green and red coordinates.</a:t>
            </a:r>
          </a:p>
          <a:p>
            <a:pPr>
              <a:lnSpc>
                <a:spcPct val="120000"/>
              </a:lnSpc>
              <a:spcAft>
                <a:spcPts val="1600"/>
              </a:spcAft>
              <a:defRPr sz="1400" b="1">
                <a:solidFill>
                  <a:srgbClr val="2C4B3B"/>
                </a:solidFill>
                <a:latin typeface="Segoe UI"/>
              </a:defRPr>
            </a:pPr>
            <a:r>
              <a:t>Curated Terrains Sidebar: </a:t>
            </a:r>
            <a:r>
              <a:rPr b="0">
                <a:solidFill>
                  <a:srgbClr val="212529"/>
                </a:solidFill>
              </a:rPr>
              <a:t>Includes descriptive cards for Sydney's top natural landmarks like Bondi to Coogee Coastal Walk, Royal National Park, Manly to Spit Bridge, and Centennial Park.</a:t>
            </a:r>
          </a:p>
          <a:p>
            <a:pPr>
              <a:lnSpc>
                <a:spcPct val="120000"/>
              </a:lnSpc>
              <a:spcAft>
                <a:spcPts val="1600"/>
              </a:spcAft>
              <a:defRPr sz="1400" b="1">
                <a:solidFill>
                  <a:srgbClr val="2C4B3B"/>
                </a:solidFill>
                <a:latin typeface="Segoe UI"/>
              </a:defRPr>
            </a:pPr>
            <a:r>
              <a:t>Seamless Synchronization: </a:t>
            </a:r>
            <a:r>
              <a:rPr b="0">
                <a:solidFill>
                  <a:srgbClr val="212529"/>
                </a:solidFill>
              </a:rPr>
              <a:t>Selecting any location card in the sidebar instantly updates the map pin, provides exact GPS coordinates, and provides driving directions.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897880" y="1325880"/>
            <a:ext cx="5669280" cy="4480560"/>
          </a:xfrm>
          <a:prstGeom prst="rect">
            <a:avLst/>
          </a:prstGeom>
          <a:solidFill>
            <a:srgbClr val="DAE6DE"/>
          </a:solidFill>
          <a:ln w="19050">
            <a:solidFill>
              <a:srgbClr val="7AA3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2_explore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371600"/>
            <a:ext cx="557784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2C4B3B"/>
                </a:solidFill>
                <a:latin typeface="Segoe UI"/>
              </a:defRPr>
            </a:pPr>
            <a:r>
              <a:t>3. Your Saved Escapes (Favorites)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484632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Aft>
                <a:spcPts val="1600"/>
              </a:spcAft>
              <a:defRPr sz="1400" b="1">
                <a:solidFill>
                  <a:srgbClr val="2C4B3B"/>
                </a:solidFill>
                <a:latin typeface="Segoe UI"/>
              </a:defRPr>
            </a:pPr>
            <a:r>
              <a:t>Personalized Planning: </a:t>
            </a:r>
            <a:r>
              <a:rPr b="0">
                <a:solidFill>
                  <a:srgbClr val="212529"/>
                </a:solidFill>
              </a:rPr>
              <a:t>A dedicated space for users to keep track of their preferred destinations and organize future outdoor activities.</a:t>
            </a:r>
          </a:p>
          <a:p>
            <a:pPr>
              <a:lnSpc>
                <a:spcPct val="120000"/>
              </a:lnSpc>
              <a:spcAft>
                <a:spcPts val="1600"/>
              </a:spcAft>
              <a:defRPr sz="1400" b="1">
                <a:solidFill>
                  <a:srgbClr val="2C4B3B"/>
                </a:solidFill>
                <a:latin typeface="Segoe UI"/>
              </a:defRPr>
            </a:pPr>
            <a:r>
              <a:t>Translucent UI Elements: </a:t>
            </a:r>
            <a:r>
              <a:rPr b="0">
                <a:solidFill>
                  <a:srgbClr val="212529"/>
                </a:solidFill>
              </a:rPr>
              <a:t>The favorites list resides inside an elegant glassmorphism container that floats beautifully over the blurred background.</a:t>
            </a:r>
          </a:p>
          <a:p>
            <a:pPr>
              <a:lnSpc>
                <a:spcPct val="120000"/>
              </a:lnSpc>
              <a:spcAft>
                <a:spcPts val="1600"/>
              </a:spcAft>
              <a:defRPr sz="1400" b="1">
                <a:solidFill>
                  <a:srgbClr val="2C4B3B"/>
                </a:solidFill>
                <a:latin typeface="Segoe UI"/>
              </a:defRPr>
            </a:pPr>
            <a:r>
              <a:t>Empty State Guidance: </a:t>
            </a:r>
            <a:r>
              <a:rPr b="0">
                <a:solidFill>
                  <a:srgbClr val="212529"/>
                </a:solidFill>
              </a:rPr>
              <a:t>Clean, friendly heart illustration and simple helper text that instructs users how to save landscapes with a single click.</a:t>
            </a:r>
          </a:p>
          <a:p>
            <a:pPr>
              <a:lnSpc>
                <a:spcPct val="120000"/>
              </a:lnSpc>
              <a:spcAft>
                <a:spcPts val="1600"/>
              </a:spcAft>
              <a:defRPr sz="1400" b="1">
                <a:solidFill>
                  <a:srgbClr val="2C4B3B"/>
                </a:solidFill>
                <a:latin typeface="Segoe UI"/>
              </a:defRPr>
            </a:pPr>
            <a:r>
              <a:t>Heart Icon Toggle: </a:t>
            </a:r>
            <a:r>
              <a:rPr b="0">
                <a:solidFill>
                  <a:srgbClr val="212529"/>
                </a:solidFill>
              </a:rPr>
              <a:t>Users can save or unsave spots on the fly directly from the main sidebar cards, synced in real-time.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897880" y="1325880"/>
            <a:ext cx="5669280" cy="4480560"/>
          </a:xfrm>
          <a:prstGeom prst="rect">
            <a:avLst/>
          </a:prstGeom>
          <a:solidFill>
            <a:srgbClr val="DAE6DE"/>
          </a:solidFill>
          <a:ln w="19050">
            <a:solidFill>
              <a:srgbClr val="7AA3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3_saved_escap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371600"/>
            <a:ext cx="557784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2C4B3B"/>
                </a:solidFill>
                <a:latin typeface="Segoe UI"/>
              </a:defRPr>
            </a:pPr>
            <a:r>
              <a:t>4. Nature Blogs &amp; Shared Stories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484632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Aft>
                <a:spcPts val="1600"/>
              </a:spcAft>
              <a:defRPr sz="1400" b="1">
                <a:solidFill>
                  <a:srgbClr val="2C4B3B"/>
                </a:solidFill>
                <a:latin typeface="Segoe UI"/>
              </a:defRPr>
            </a:pPr>
            <a:r>
              <a:t>Community Focus: </a:t>
            </a:r>
            <a:r>
              <a:rPr b="0">
                <a:solidFill>
                  <a:srgbClr val="212529"/>
                </a:solidFill>
              </a:rPr>
              <a:t>Allows outdoor enthusiasts to share guides, safety tips, and personal memories of Sydney trails with others.</a:t>
            </a:r>
          </a:p>
          <a:p>
            <a:pPr>
              <a:lnSpc>
                <a:spcPct val="120000"/>
              </a:lnSpc>
              <a:spcAft>
                <a:spcPts val="1600"/>
              </a:spcAft>
              <a:defRPr sz="1400" b="1">
                <a:solidFill>
                  <a:srgbClr val="2C4B3B"/>
                </a:solidFill>
                <a:latin typeface="Segoe UI"/>
              </a:defRPr>
            </a:pPr>
            <a:r>
              <a:t>Responsive Cards Grid: </a:t>
            </a:r>
            <a:r>
              <a:rPr b="0">
                <a:solidFill>
                  <a:srgbClr val="212529"/>
                </a:solidFill>
              </a:rPr>
              <a:t>Displays community posts in a modern card layout featuring high-resolution cover photos, descriptive headers, author names, and publication dates.</a:t>
            </a:r>
          </a:p>
          <a:p>
            <a:pPr>
              <a:lnSpc>
                <a:spcPct val="120000"/>
              </a:lnSpc>
              <a:spcAft>
                <a:spcPts val="1600"/>
              </a:spcAft>
              <a:defRPr sz="1400" b="1">
                <a:solidFill>
                  <a:srgbClr val="2C4B3B"/>
                </a:solidFill>
                <a:latin typeface="Segoe UI"/>
              </a:defRPr>
            </a:pPr>
            <a:r>
              <a:t>Upload Blog Flow: </a:t>
            </a:r>
            <a:r>
              <a:rPr b="0">
                <a:solidFill>
                  <a:srgbClr val="212529"/>
                </a:solidFill>
              </a:rPr>
              <a:t>A prominent 'Upload Blog' button equipped with custom icons facilitates quick, painless blogging with photo uploads.</a:t>
            </a:r>
          </a:p>
          <a:p>
            <a:pPr>
              <a:lnSpc>
                <a:spcPct val="120000"/>
              </a:lnSpc>
              <a:spcAft>
                <a:spcPts val="1600"/>
              </a:spcAft>
              <a:defRPr sz="1400" b="1">
                <a:solidFill>
                  <a:srgbClr val="2C4B3B"/>
                </a:solidFill>
                <a:latin typeface="Segoe UI"/>
              </a:defRPr>
            </a:pPr>
            <a:r>
              <a:t>Dynamic Content: </a:t>
            </a:r>
            <a:r>
              <a:rPr b="0">
                <a:solidFill>
                  <a:srgbClr val="212529"/>
                </a:solidFill>
              </a:rPr>
              <a:t>Empowers users to read detailed first-person experiences, such as traversing the Royal National Park cliffs or the scenic Manly coast.</a:t>
            </a:r>
          </a:p>
        </p:txBody>
      </p:sp>
      <p:sp>
        <p:nvSpPr>
          <p:cNvPr id="4" name="Rectangle 3"/>
          <p:cNvSpPr/>
          <p:nvPr/>
        </p:nvSpPr>
        <p:spPr>
          <a:xfrm>
            <a:off x="5897880" y="1325880"/>
            <a:ext cx="5669280" cy="4480560"/>
          </a:xfrm>
          <a:prstGeom prst="rect">
            <a:avLst/>
          </a:prstGeom>
          <a:solidFill>
            <a:srgbClr val="DAE6DE"/>
          </a:solidFill>
          <a:ln w="19050">
            <a:solidFill>
              <a:srgbClr val="7AA3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4_nature_blo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371600"/>
            <a:ext cx="557784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2C4B3B"/>
                </a:solidFill>
                <a:latin typeface="Segoe UI"/>
              </a:defRPr>
            </a:pPr>
            <a:r>
              <a:t>5. Secure &amp; Sleek Authentication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484632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Aft>
                <a:spcPts val="1600"/>
              </a:spcAft>
              <a:defRPr sz="1400" b="1">
                <a:solidFill>
                  <a:srgbClr val="2C4B3B"/>
                </a:solidFill>
                <a:latin typeface="Segoe UI"/>
              </a:defRPr>
            </a:pPr>
            <a:r>
              <a:t>Premium Login Page: </a:t>
            </a:r>
            <a:r>
              <a:rPr b="0">
                <a:solidFill>
                  <a:srgbClr val="212529"/>
                </a:solidFill>
              </a:rPr>
              <a:t>Minimalist and clutter-free form situated inside a floating frosted-glass card, avoiding intimidating corporate designs.</a:t>
            </a:r>
          </a:p>
          <a:p>
            <a:pPr>
              <a:lnSpc>
                <a:spcPct val="120000"/>
              </a:lnSpc>
              <a:spcAft>
                <a:spcPts val="1600"/>
              </a:spcAft>
              <a:defRPr sz="1400" b="1">
                <a:solidFill>
                  <a:srgbClr val="2C4B3B"/>
                </a:solidFill>
                <a:latin typeface="Segoe UI"/>
              </a:defRPr>
            </a:pPr>
            <a:r>
              <a:t>Input Aesthetics: </a:t>
            </a:r>
            <a:r>
              <a:rPr b="0">
                <a:solidFill>
                  <a:srgbClr val="212529"/>
                </a:solidFill>
              </a:rPr>
              <a:t>Clean, modern form fields with subtle borders and clear placeholders for Email and Password.</a:t>
            </a:r>
          </a:p>
          <a:p>
            <a:pPr>
              <a:lnSpc>
                <a:spcPct val="120000"/>
              </a:lnSpc>
              <a:spcAft>
                <a:spcPts val="1600"/>
              </a:spcAft>
              <a:defRPr sz="1400" b="1">
                <a:solidFill>
                  <a:srgbClr val="2C4B3B"/>
                </a:solidFill>
                <a:latin typeface="Segoe UI"/>
              </a:defRPr>
            </a:pPr>
            <a:r>
              <a:t>Distinct Button Action: </a:t>
            </a:r>
            <a:r>
              <a:rPr b="0">
                <a:solidFill>
                  <a:srgbClr val="212529"/>
                </a:solidFill>
              </a:rPr>
              <a:t>A solid dark-green call-to-action button anchored to the bottom, providing a satisfying hover and click feedback.</a:t>
            </a:r>
          </a:p>
          <a:p>
            <a:pPr>
              <a:lnSpc>
                <a:spcPct val="120000"/>
              </a:lnSpc>
              <a:spcAft>
                <a:spcPts val="1600"/>
              </a:spcAft>
              <a:defRPr sz="1400" b="1">
                <a:solidFill>
                  <a:srgbClr val="2C4B3B"/>
                </a:solidFill>
                <a:latin typeface="Segoe UI"/>
              </a:defRPr>
            </a:pPr>
            <a:r>
              <a:t>Alternative Options: </a:t>
            </a:r>
            <a:r>
              <a:rPr b="0">
                <a:solidFill>
                  <a:srgbClr val="212529"/>
                </a:solidFill>
              </a:rPr>
              <a:t>Helpful sub-links for signing up new accounts and resetting lost passwords, ensuring no user is locked out.</a:t>
            </a:r>
          </a:p>
        </p:txBody>
      </p:sp>
      <p:sp>
        <p:nvSpPr>
          <p:cNvPr id="4" name="Rectangle 3"/>
          <p:cNvSpPr/>
          <p:nvPr/>
        </p:nvSpPr>
        <p:spPr>
          <a:xfrm>
            <a:off x="5897880" y="1325880"/>
            <a:ext cx="5669280" cy="4480560"/>
          </a:xfrm>
          <a:prstGeom prst="rect">
            <a:avLst/>
          </a:prstGeom>
          <a:solidFill>
            <a:srgbClr val="DAE6DE"/>
          </a:solidFill>
          <a:ln w="19050">
            <a:solidFill>
              <a:srgbClr val="7AA3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5_login_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371600"/>
            <a:ext cx="557784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2C4B3B"/>
                </a:solidFill>
                <a:latin typeface="Segoe UI"/>
              </a:defRPr>
            </a:pPr>
            <a:r>
              <a:t>Tech Stack &amp; System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463040"/>
            <a:ext cx="3474720" cy="4389120"/>
          </a:xfrm>
          <a:prstGeom prst="roundRect">
            <a:avLst/>
          </a:prstGeom>
          <a:solidFill>
            <a:srgbClr val="DAE6DE"/>
          </a:solidFill>
          <a:ln w="12700">
            <a:solidFill>
              <a:srgbClr val="7AA3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365760" rIns="274320" rtlCol="0" anchor="ctr"/>
          <a:lstStyle/>
          <a:p>
            <a:pPr algn="ctr">
              <a:spcAft>
                <a:spcPts val="2000"/>
              </a:spcAft>
              <a:defRPr sz="1600" b="1">
                <a:solidFill>
                  <a:srgbClr val="2C4B3B"/>
                </a:solidFill>
                <a:latin typeface="Segoe UI"/>
              </a:defRPr>
            </a:pPr>
            <a:r>
              <a:t>FRONTEND LAYER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150" b="1">
                <a:solidFill>
                  <a:srgbClr val="212529"/>
                </a:solidFill>
                <a:latin typeface="Segoe UI"/>
              </a:defRPr>
            </a:pPr>
            <a:r>
              <a:t>•  Framework: </a:t>
            </a:r>
            <a:r>
              <a:rPr b="0">
                <a:solidFill>
                  <a:srgbClr val="212529"/>
                </a:solidFill>
              </a:rPr>
              <a:t>Next.js (React) in TypeScript for robust structure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150" b="1">
                <a:solidFill>
                  <a:srgbClr val="212529"/>
                </a:solidFill>
                <a:latin typeface="Segoe UI"/>
              </a:defRPr>
            </a:pPr>
            <a:r>
              <a:t>•  Styling: </a:t>
            </a:r>
            <a:r>
              <a:rPr b="0">
                <a:solidFill>
                  <a:srgbClr val="212529"/>
                </a:solidFill>
              </a:rPr>
              <a:t>Vanilla CSS with glassmorphism variables &amp; nature accents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150" b="1">
                <a:solidFill>
                  <a:srgbClr val="212529"/>
                </a:solidFill>
                <a:latin typeface="Segoe UI"/>
              </a:defRPr>
            </a:pPr>
            <a:r>
              <a:t>•  Theme: </a:t>
            </a:r>
            <a:r>
              <a:rPr b="0">
                <a:solidFill>
                  <a:srgbClr val="212529"/>
                </a:solidFill>
              </a:rPr>
              <a:t>Grounding, nature-focused green &amp; blue color palette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150" b="1">
                <a:solidFill>
                  <a:srgbClr val="212529"/>
                </a:solidFill>
                <a:latin typeface="Segoe UI"/>
              </a:defRPr>
            </a:pPr>
            <a:r>
              <a:t>•  Fonts: </a:t>
            </a:r>
            <a:r>
              <a:rPr b="0">
                <a:solidFill>
                  <a:srgbClr val="212529"/>
                </a:solidFill>
              </a:rPr>
              <a:t>Clean, modern, responsive typography (Segoe UI/Inter)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97680" y="1463040"/>
            <a:ext cx="3474720" cy="4389120"/>
          </a:xfrm>
          <a:prstGeom prst="roundRect">
            <a:avLst/>
          </a:prstGeom>
          <a:solidFill>
            <a:srgbClr val="DAE6DE"/>
          </a:solidFill>
          <a:ln w="12700">
            <a:solidFill>
              <a:srgbClr val="7AA3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365760" rIns="274320" rtlCol="0" anchor="ctr"/>
          <a:lstStyle/>
          <a:p>
            <a:pPr algn="ctr">
              <a:spcAft>
                <a:spcPts val="2000"/>
              </a:spcAft>
              <a:defRPr sz="1600" b="1">
                <a:solidFill>
                  <a:srgbClr val="2C4B3B"/>
                </a:solidFill>
                <a:latin typeface="Segoe UI"/>
              </a:defRPr>
            </a:pPr>
            <a:r>
              <a:t>MAPPING &amp; API LAYER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150" b="1">
                <a:solidFill>
                  <a:srgbClr val="212529"/>
                </a:solidFill>
                <a:latin typeface="Segoe UI"/>
              </a:defRPr>
            </a:pPr>
            <a:r>
              <a:t>•  Map Engine: </a:t>
            </a:r>
            <a:r>
              <a:rPr b="0">
                <a:solidFill>
                  <a:srgbClr val="212529"/>
                </a:solidFill>
              </a:rPr>
              <a:t>Maplibre GL for smooth vector tile rendering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150" b="1">
                <a:solidFill>
                  <a:srgbClr val="212529"/>
                </a:solidFill>
                <a:latin typeface="Segoe UI"/>
              </a:defRPr>
            </a:pPr>
            <a:r>
              <a:t>•  Basemaps: </a:t>
            </a:r>
            <a:r>
              <a:rPr b="0">
                <a:solidFill>
                  <a:srgbClr val="212529"/>
                </a:solidFill>
              </a:rPr>
              <a:t>OpenStreetMap &amp; Mapbox open layers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150" b="1">
                <a:solidFill>
                  <a:srgbClr val="212529"/>
                </a:solidFill>
                <a:latin typeface="Segoe UI"/>
              </a:defRPr>
            </a:pPr>
            <a:r>
              <a:t>•  Syncing: </a:t>
            </a:r>
            <a:r>
              <a:rPr b="0">
                <a:solidFill>
                  <a:srgbClr val="212529"/>
                </a:solidFill>
              </a:rPr>
              <a:t>Client-side event syncing between sidebar lists &amp; map pins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150" b="1">
                <a:solidFill>
                  <a:srgbClr val="212529"/>
                </a:solidFill>
                <a:latin typeface="Segoe UI"/>
              </a:defRPr>
            </a:pPr>
            <a:r>
              <a:t>•  Data Formats: </a:t>
            </a:r>
            <a:r>
              <a:rPr b="0">
                <a:solidFill>
                  <a:srgbClr val="212529"/>
                </a:solidFill>
              </a:rPr>
              <a:t>GeoJSON for lightweight coordinate and path storage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955279" y="1463040"/>
            <a:ext cx="3474720" cy="4389120"/>
          </a:xfrm>
          <a:prstGeom prst="roundRect">
            <a:avLst/>
          </a:prstGeom>
          <a:solidFill>
            <a:srgbClr val="DAE6DE"/>
          </a:solidFill>
          <a:ln w="12700">
            <a:solidFill>
              <a:srgbClr val="7AA3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365760" rIns="274320" rtlCol="0" anchor="ctr"/>
          <a:lstStyle/>
          <a:p>
            <a:pPr algn="ctr">
              <a:spcAft>
                <a:spcPts val="2000"/>
              </a:spcAft>
              <a:defRPr sz="1600" b="1">
                <a:solidFill>
                  <a:srgbClr val="2C4B3B"/>
                </a:solidFill>
                <a:latin typeface="Segoe UI"/>
              </a:defRPr>
            </a:pPr>
            <a:r>
              <a:t>BACKEND &amp; DATA LAYER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150" b="1">
                <a:solidFill>
                  <a:srgbClr val="212529"/>
                </a:solidFill>
                <a:latin typeface="Segoe UI"/>
              </a:defRPr>
            </a:pPr>
            <a:r>
              <a:t>•  Server: </a:t>
            </a:r>
            <a:r>
              <a:rPr b="0">
                <a:solidFill>
                  <a:srgbClr val="212529"/>
                </a:solidFill>
              </a:rPr>
              <a:t>Node.js Express &amp; Next.js Serverless API endpoints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150" b="1">
                <a:solidFill>
                  <a:srgbClr val="212529"/>
                </a:solidFill>
                <a:latin typeface="Segoe UI"/>
              </a:defRPr>
            </a:pPr>
            <a:r>
              <a:t>•  Database: </a:t>
            </a:r>
            <a:r>
              <a:rPr b="0">
                <a:solidFill>
                  <a:srgbClr val="212529"/>
                </a:solidFill>
              </a:rPr>
              <a:t>MySQL / SQLite (via Prisma schema)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150" b="1">
                <a:solidFill>
                  <a:srgbClr val="212529"/>
                </a:solidFill>
                <a:latin typeface="Segoe UI"/>
              </a:defRPr>
            </a:pPr>
            <a:r>
              <a:t>•  ORM: </a:t>
            </a:r>
            <a:r>
              <a:rPr b="0">
                <a:solidFill>
                  <a:srgbClr val="212529"/>
                </a:solidFill>
              </a:rPr>
              <a:t>Prisma ORM for structured and rapid database queries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150" b="1">
                <a:solidFill>
                  <a:srgbClr val="212529"/>
                </a:solidFill>
                <a:latin typeface="Segoe UI"/>
              </a:defRPr>
            </a:pPr>
            <a:r>
              <a:t>•  Authentication: </a:t>
            </a:r>
            <a:r>
              <a:rPr b="0">
                <a:solidFill>
                  <a:srgbClr val="212529"/>
                </a:solidFill>
              </a:rPr>
              <a:t>Secure password hashing &amp; JWT cookie validation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4B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7AA3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914400"/>
            <a:ext cx="94484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  <a:defRPr sz="4000" b="1">
                <a:solidFill>
                  <a:srgbClr val="FFFFFF"/>
                </a:solidFill>
                <a:latin typeface="Segoe UI"/>
              </a:defRPr>
            </a:pPr>
            <a:r>
              <a:t>Looking Ahead: Future of SCAPE</a:t>
            </a:r>
          </a:p>
          <a:p>
            <a:pPr>
              <a:lnSpc>
                <a:spcPct val="120000"/>
              </a:lnSpc>
              <a:spcAft>
                <a:spcPts val="1400"/>
              </a:spcAft>
              <a:defRPr sz="1600" b="1">
                <a:solidFill>
                  <a:srgbClr val="DAE6DE"/>
                </a:solidFill>
                <a:latin typeface="Segoe UI"/>
              </a:defRPr>
            </a:pPr>
            <a:r>
              <a:t>•  Community Trails &amp; Routes: </a:t>
            </a:r>
            <a:r>
              <a:rPr b="0">
                <a:solidFill>
                  <a:srgbClr val="FFFFFF"/>
                </a:solidFill>
              </a:rPr>
              <a:t>Allow users to draw and submit custom hiking paths directly on the map.</a:t>
            </a:r>
          </a:p>
          <a:p>
            <a:pPr>
              <a:lnSpc>
                <a:spcPct val="120000"/>
              </a:lnSpc>
              <a:spcAft>
                <a:spcPts val="1400"/>
              </a:spcAft>
              <a:defRPr sz="1600" b="1">
                <a:solidFill>
                  <a:srgbClr val="DAE6DE"/>
                </a:solidFill>
                <a:latin typeface="Segoe UI"/>
              </a:defRPr>
            </a:pPr>
            <a:r>
              <a:t>•  Mobile Companion App: </a:t>
            </a:r>
            <a:r>
              <a:rPr b="0">
                <a:solidFill>
                  <a:srgbClr val="FFFFFF"/>
                </a:solidFill>
              </a:rPr>
              <a:t>Native iOS and Android versions using React Native for offline tracking and GPS alerts.</a:t>
            </a:r>
          </a:p>
          <a:p>
            <a:pPr>
              <a:lnSpc>
                <a:spcPct val="120000"/>
              </a:lnSpc>
              <a:spcAft>
                <a:spcPts val="1400"/>
              </a:spcAft>
              <a:defRPr sz="1600" b="1">
                <a:solidFill>
                  <a:srgbClr val="DAE6DE"/>
                </a:solidFill>
                <a:latin typeface="Segoe UI"/>
              </a:defRPr>
            </a:pPr>
            <a:r>
              <a:t>•  Local Wildlife &amp; Safety Data: </a:t>
            </a:r>
            <a:r>
              <a:rPr b="0">
                <a:solidFill>
                  <a:srgbClr val="FFFFFF"/>
                </a:solidFill>
              </a:rPr>
              <a:t>Real-time alerts for weather, fire hazards, and flora/fauna information along trails.</a:t>
            </a:r>
          </a:p>
          <a:p>
            <a:pPr>
              <a:lnSpc>
                <a:spcPct val="120000"/>
              </a:lnSpc>
              <a:spcAft>
                <a:spcPts val="1400"/>
              </a:spcAft>
              <a:defRPr sz="1600" b="1">
                <a:solidFill>
                  <a:srgbClr val="DAE6DE"/>
                </a:solidFill>
                <a:latin typeface="Segoe UI"/>
              </a:defRPr>
            </a:pPr>
            <a:r>
              <a:t>•  Social Group Hikes: </a:t>
            </a:r>
            <a:r>
              <a:rPr b="0">
                <a:solidFill>
                  <a:srgbClr val="FFFFFF"/>
                </a:solidFill>
              </a:rPr>
              <a:t>Empower users to coordinate group outings and meetups directly through the platform.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</TotalTime>
  <Words>1039</Words>
  <Application>Microsoft Office PowerPoint</Application>
  <PresentationFormat>Widescreen</PresentationFormat>
  <Paragraphs>71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Trebuchet MS</vt:lpstr>
      <vt:lpstr>Wingdings 3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Palden  Gurung</cp:lastModifiedBy>
  <cp:revision>2</cp:revision>
  <dcterms:created xsi:type="dcterms:W3CDTF">2013-01-27T09:14:16Z</dcterms:created>
  <dcterms:modified xsi:type="dcterms:W3CDTF">2026-05-26T09:19:51Z</dcterms:modified>
  <cp:category/>
</cp:coreProperties>
</file>